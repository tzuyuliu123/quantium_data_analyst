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3"/>
  </p:notesMasterIdLst>
  <p:sldIdLst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254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hyperlink" Target="https://creativecommons.org/licenses/by/3.0/" TargetMode="External"/><Relationship Id="rId5" Type="http://schemas.openxmlformats.org/officeDocument/2006/relationships/hyperlink" Target="https://www.flickr.com/photos/jeepersmedia/49389815356" TargetMode="External"/><Relationship Id="rId4" Type="http://schemas.openxmlformats.org/officeDocument/2006/relationships/image" Target="../media/image6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hyperlink" Target="https://www.pexels.com/photo/family-doing-shopping-in-the-grocery-store-3985070/" TargetMode="Externa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BD32A07D-C646-4CC0-BA93-76707E70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47377" y="835383"/>
            <a:ext cx="3382832" cy="3499549"/>
          </a:xfrm>
        </p:spPr>
        <p:txBody>
          <a:bodyPr>
            <a:normAutofit/>
          </a:bodyPr>
          <a:lstStyle/>
          <a:p>
            <a:pPr algn="l"/>
            <a:r>
              <a:rPr lang="en-US" sz="4200"/>
              <a:t>Chips’ purchase Behavior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47380" y="4334933"/>
            <a:ext cx="3382831" cy="1185333"/>
          </a:xfrm>
        </p:spPr>
        <p:txBody>
          <a:bodyPr>
            <a:normAutofit/>
          </a:bodyPr>
          <a:lstStyle/>
          <a:p>
            <a:pPr algn="l"/>
            <a:r>
              <a:rPr lang="en-US" err="1">
                <a:solidFill>
                  <a:srgbClr val="B8BB58"/>
                </a:solidFill>
              </a:rPr>
              <a:t>TzuYu</a:t>
            </a:r>
            <a:r>
              <a:rPr lang="en-US">
                <a:solidFill>
                  <a:srgbClr val="B8BB58"/>
                </a:solidFill>
              </a:rPr>
              <a:t> Liu</a:t>
            </a:r>
          </a:p>
        </p:txBody>
      </p:sp>
      <p:pic>
        <p:nvPicPr>
          <p:cNvPr id="6" name="Picture 5" descr="A shelf with bags of chips&#10;&#10;AI-generated content may be incorrect.">
            <a:extLst>
              <a:ext uri="{FF2B5EF4-FFF2-40B4-BE49-F238E27FC236}">
                <a16:creationId xmlns:a16="http://schemas.microsoft.com/office/drawing/2014/main" id="{52403D52-49D8-9428-4E8F-DC88F43C7C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6326" r="11240"/>
          <a:stretch>
            <a:fillRect/>
          </a:stretch>
        </p:blipFill>
        <p:spPr>
          <a:xfrm>
            <a:off x="-1" y="10"/>
            <a:ext cx="7537704" cy="6857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62649B-1DF2-C6B3-2F74-0F3C76F5BACF}"/>
              </a:ext>
            </a:extLst>
          </p:cNvPr>
          <p:cNvSpPr txBox="1"/>
          <p:nvPr/>
        </p:nvSpPr>
        <p:spPr>
          <a:xfrm>
            <a:off x="5299591" y="6657945"/>
            <a:ext cx="223811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AU" sz="700">
                <a:solidFill>
                  <a:srgbClr val="FFFFFF"/>
                </a:solidFill>
                <a:hlinkClick r:id="rId5" tooltip="https://www.flickr.com/photos/jeepersmedia/4938981535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AU" sz="700">
                <a:solidFill>
                  <a:srgbClr val="FFFFFF"/>
                </a:solidFill>
              </a:rPr>
              <a:t> by Unknown Author is licensed under </a:t>
            </a:r>
            <a:r>
              <a:rPr lang="en-AU" sz="700">
                <a:solidFill>
                  <a:srgbClr val="FFFFFF"/>
                </a:solidFill>
                <a:hlinkClick r:id="rId6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AU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family pushing a shopping cart&#10;&#10;AI-generated content may be incorrect.">
            <a:extLst>
              <a:ext uri="{FF2B5EF4-FFF2-40B4-BE49-F238E27FC236}">
                <a16:creationId xmlns:a16="http://schemas.microsoft.com/office/drawing/2014/main" id="{97283954-67B5-0955-44D7-EACBB158EDE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5924" b="980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b="1" dirty="0"/>
              <a:t>Agenda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3714749"/>
          </a:xfrm>
        </p:spPr>
        <p:txBody>
          <a:bodyPr anchor="ctr">
            <a:normAutofit/>
          </a:bodyPr>
          <a:lstStyle/>
          <a:p>
            <a:pPr marL="36900" lvl="0" indent="0">
              <a:buNone/>
            </a:pPr>
            <a:r>
              <a:rPr lang="en-US" sz="4000" dirty="0"/>
              <a:t>Chips Category Review</a:t>
            </a:r>
          </a:p>
          <a:p>
            <a:pPr marL="36900" lvl="0" indent="0">
              <a:buNone/>
            </a:pPr>
            <a:r>
              <a:rPr lang="en-US" sz="4000" dirty="0"/>
              <a:t>Trial Store Analysis</a:t>
            </a:r>
          </a:p>
          <a:p>
            <a:pPr marL="369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showing a graph&#10;&#10;AI-generated content may be incorrect.">
            <a:extLst>
              <a:ext uri="{FF2B5EF4-FFF2-40B4-BE49-F238E27FC236}">
                <a16:creationId xmlns:a16="http://schemas.microsoft.com/office/drawing/2014/main" id="{A1E1510D-992C-FDE2-2F8E-69CA99A943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633" y="1346548"/>
            <a:ext cx="11814729" cy="416490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0C131E-2DDB-A05A-7DE3-91F7A91D9E34}"/>
              </a:ext>
            </a:extLst>
          </p:cNvPr>
          <p:cNvSpPr txBox="1"/>
          <p:nvPr/>
        </p:nvSpPr>
        <p:spPr>
          <a:xfrm>
            <a:off x="1359406" y="5661329"/>
            <a:ext cx="9473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number of Chip transactions has remained consistent over the last 52 weeks. A noticeable increase occurred in the week before Christmas.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42C1466-9EF4-77B4-DB74-D7748AF99CF3}"/>
              </a:ext>
            </a:extLst>
          </p:cNvPr>
          <p:cNvSpPr/>
          <p:nvPr/>
        </p:nvSpPr>
        <p:spPr>
          <a:xfrm>
            <a:off x="5756146" y="1611696"/>
            <a:ext cx="679704" cy="63468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CD74C45E-2F7A-3134-1CC1-1C2A2A08F648}"/>
              </a:ext>
            </a:extLst>
          </p:cNvPr>
          <p:cNvSpPr/>
          <p:nvPr/>
        </p:nvSpPr>
        <p:spPr>
          <a:xfrm>
            <a:off x="6435850" y="4287520"/>
            <a:ext cx="679704" cy="27432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DDA99A-7290-2870-6337-31052674E7E0}"/>
              </a:ext>
            </a:extLst>
          </p:cNvPr>
          <p:cNvSpPr txBox="1"/>
          <p:nvPr/>
        </p:nvSpPr>
        <p:spPr>
          <a:xfrm>
            <a:off x="7259320" y="3730843"/>
            <a:ext cx="3675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bg1"/>
                </a:solidFill>
              </a:rPr>
              <a:t>The total number of transactions in the week, including Christmas, was negatively affected by public holiday store closures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7ED0BB-B311-C927-0B45-52B1E070FF2B}"/>
              </a:ext>
            </a:extLst>
          </p:cNvPr>
          <p:cNvSpPr txBox="1"/>
          <p:nvPr/>
        </p:nvSpPr>
        <p:spPr>
          <a:xfrm>
            <a:off x="188633" y="601960"/>
            <a:ext cx="9473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Chip Sales Performance - Daily Transaction Trends</a:t>
            </a:r>
          </a:p>
        </p:txBody>
      </p:sp>
    </p:spTree>
    <p:extLst>
      <p:ext uri="{BB962C8B-B14F-4D97-AF65-F5344CB8AC3E}">
        <p14:creationId xmlns:p14="http://schemas.microsoft.com/office/powerpoint/2010/main" val="4048815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BB1202-E2D2-8FAB-BEA3-5F03565AE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62" y="1025420"/>
            <a:ext cx="10364410" cy="51559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C924ED-7D59-9E40-2138-04EC4C5023AA}"/>
              </a:ext>
            </a:extLst>
          </p:cNvPr>
          <p:cNvSpPr txBox="1"/>
          <p:nvPr/>
        </p:nvSpPr>
        <p:spPr>
          <a:xfrm>
            <a:off x="2201173" y="445304"/>
            <a:ext cx="8353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/>
              <a:t>Average units per transaction by affluence and life stage profile </a:t>
            </a:r>
            <a:endParaRPr lang="en-AU" sz="24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E711EB-9329-032D-0327-F56EBC6BA40E}"/>
              </a:ext>
            </a:extLst>
          </p:cNvPr>
          <p:cNvSpPr/>
          <p:nvPr/>
        </p:nvSpPr>
        <p:spPr>
          <a:xfrm>
            <a:off x="4154761" y="1353312"/>
            <a:ext cx="1417320" cy="33009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EC645D-80E0-9979-69B0-C72325C8258F}"/>
              </a:ext>
            </a:extLst>
          </p:cNvPr>
          <p:cNvSpPr/>
          <p:nvPr/>
        </p:nvSpPr>
        <p:spPr>
          <a:xfrm>
            <a:off x="1219200" y="1070916"/>
            <a:ext cx="2669373" cy="12574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500" dirty="0">
                <a:solidFill>
                  <a:schemeClr val="bg1"/>
                </a:solidFill>
              </a:rPr>
              <a:t>Affluence appears consistent across each individual life stage profile; Older and Young Family shoppers purchase the highest avg units per transaction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18A7E4-3E58-D98A-29FD-98FA0F79E7E1}"/>
              </a:ext>
            </a:extLst>
          </p:cNvPr>
          <p:cNvSpPr/>
          <p:nvPr/>
        </p:nvSpPr>
        <p:spPr>
          <a:xfrm>
            <a:off x="8303428" y="1353312"/>
            <a:ext cx="1417320" cy="33009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4417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D4927-3C80-07D1-BC72-9888D53BC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783" y="1041934"/>
            <a:ext cx="4312723" cy="4774130"/>
          </a:xfrm>
        </p:spPr>
        <p:txBody>
          <a:bodyPr>
            <a:noAutofit/>
          </a:bodyPr>
          <a:lstStyle/>
          <a:p>
            <a:pPr algn="l"/>
            <a:r>
              <a:rPr lang="en-AU" sz="3600" dirty="0">
                <a:solidFill>
                  <a:schemeClr val="tx1"/>
                </a:solidFill>
              </a:rPr>
              <a:t>Mainstream Young Singles &amp; Couples make up the largest proportion of Snacking Chips shoppers. </a:t>
            </a:r>
            <a:br>
              <a:rPr lang="en-AU" sz="3600" dirty="0">
                <a:solidFill>
                  <a:schemeClr val="tx1"/>
                </a:solidFill>
              </a:rPr>
            </a:br>
            <a:r>
              <a:rPr lang="en-AU" sz="3600" dirty="0">
                <a:solidFill>
                  <a:schemeClr val="tx1"/>
                </a:solidFill>
              </a:rPr>
              <a:t>Mainstream Retirees also have a significant share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02221F-9459-DAAE-B21B-AEA547623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003" y="395799"/>
            <a:ext cx="7274775" cy="606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88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93945-83A6-765F-F491-ECE61EEE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Trial vs Control Store Performance Evaluation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55BA0D-57F5-7F64-8558-7B9DD083E07A}"/>
              </a:ext>
            </a:extLst>
          </p:cNvPr>
          <p:cNvSpPr txBox="1"/>
          <p:nvPr/>
        </p:nvSpPr>
        <p:spPr>
          <a:xfrm>
            <a:off x="1230507" y="1866900"/>
            <a:ext cx="97203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Experiment Goal: </a:t>
            </a:r>
            <a:r>
              <a:rPr lang="en-AU" sz="2400" dirty="0"/>
              <a:t>To test whether the new store layout of chips improves customers’ purchasing behaviour. </a:t>
            </a:r>
          </a:p>
          <a:p>
            <a:endParaRPr lang="en-AU" sz="2400" dirty="0"/>
          </a:p>
          <a:p>
            <a:r>
              <a:rPr lang="en-AU" sz="2400" b="1" dirty="0"/>
              <a:t>Experiment Methodology:  Compare sales performance between the trial (store id = 77) and the control store (store id = 233) over a four-month period from February to May 2025. </a:t>
            </a:r>
          </a:p>
        </p:txBody>
      </p:sp>
    </p:spTree>
    <p:extLst>
      <p:ext uri="{BB962C8B-B14F-4D97-AF65-F5344CB8AC3E}">
        <p14:creationId xmlns:p14="http://schemas.microsoft.com/office/powerpoint/2010/main" val="1913624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1E70A317-DCED-4E80-AA2D-467D8702E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A6D87845-294F-40CB-BC48-46455460D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5671" y="0"/>
            <a:ext cx="753632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D72C966-5319-44C9-21B7-460E209A4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4315" y="1112622"/>
            <a:ext cx="6197668" cy="463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F691A23-067D-2A1E-23D0-59C78D33DFD6}"/>
              </a:ext>
            </a:extLst>
          </p:cNvPr>
          <p:cNvSpPr txBox="1">
            <a:spLocks/>
          </p:cNvSpPr>
          <p:nvPr/>
        </p:nvSpPr>
        <p:spPr>
          <a:xfrm>
            <a:off x="670017" y="1112622"/>
            <a:ext cx="338283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b="1" dirty="0"/>
              <a:t>Matching Criteria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409DB5-B277-EDB0-7891-A3452599DF9C}"/>
              </a:ext>
            </a:extLst>
          </p:cNvPr>
          <p:cNvSpPr txBox="1"/>
          <p:nvPr/>
        </p:nvSpPr>
        <p:spPr>
          <a:xfrm>
            <a:off x="886363" y="2880128"/>
            <a:ext cx="32924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/>
              <a:t>Monthly Sales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/>
              <a:t>Monthly Number of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/>
              <a:t>Monthly Transaction per customer</a:t>
            </a:r>
          </a:p>
        </p:txBody>
      </p:sp>
    </p:spTree>
    <p:extLst>
      <p:ext uri="{BB962C8B-B14F-4D97-AF65-F5344CB8AC3E}">
        <p14:creationId xmlns:p14="http://schemas.microsoft.com/office/powerpoint/2010/main" val="3490199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8" name="Rectangle 3087">
            <a:extLst>
              <a:ext uri="{FF2B5EF4-FFF2-40B4-BE49-F238E27FC236}">
                <a16:creationId xmlns:a16="http://schemas.microsoft.com/office/drawing/2014/main" id="{BD32A07D-C646-4CC0-BA93-76707E70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9D2888-E927-77C6-0758-882EED01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7377" y="835384"/>
            <a:ext cx="3382832" cy="7430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200" b="1" dirty="0"/>
              <a:t>Result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251DF0-F730-A2B1-3ADF-F92803B0EC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975" r="-1" b="-656"/>
          <a:stretch>
            <a:fillRect/>
          </a:stretch>
        </p:blipFill>
        <p:spPr>
          <a:xfrm>
            <a:off x="-1" y="0"/>
            <a:ext cx="7537704" cy="4234542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09C3427-7C4C-3342-B1F2-66EE7391A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9" r="-1" b="3139"/>
          <a:stretch>
            <a:fillRect/>
          </a:stretch>
        </p:blipFill>
        <p:spPr bwMode="auto">
          <a:xfrm>
            <a:off x="20" y="3429000"/>
            <a:ext cx="7537683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D794BC-8458-5ACE-7A65-9579D41E07D2}"/>
              </a:ext>
            </a:extLst>
          </p:cNvPr>
          <p:cNvSpPr txBox="1"/>
          <p:nvPr/>
        </p:nvSpPr>
        <p:spPr>
          <a:xfrm>
            <a:off x="7947377" y="2068286"/>
            <a:ext cx="38418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results show that the trial in store 77 is significantly different to its control store in the trial period as the trial store’s performance lies outside the 5% to 95% confidence interval of the control store in two of the three trial months.</a:t>
            </a:r>
          </a:p>
        </p:txBody>
      </p:sp>
    </p:spTree>
    <p:extLst>
      <p:ext uri="{BB962C8B-B14F-4D97-AF65-F5344CB8AC3E}">
        <p14:creationId xmlns:p14="http://schemas.microsoft.com/office/powerpoint/2010/main" val="143156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{0C833520-1383-4BDA-ABEB-531F48E25B48}tf55705232_win32</Template>
  <TotalTime>246</TotalTime>
  <Words>253</Words>
  <Application>Microsoft Office PowerPoint</Application>
  <PresentationFormat>Widescreen</PresentationFormat>
  <Paragraphs>24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Goudy Old Style</vt:lpstr>
      <vt:lpstr>Wingdings 2</vt:lpstr>
      <vt:lpstr>SlateVTI</vt:lpstr>
      <vt:lpstr>Chips’ purchase Behavior Analysis</vt:lpstr>
      <vt:lpstr>Agenda </vt:lpstr>
      <vt:lpstr>PowerPoint Presentation</vt:lpstr>
      <vt:lpstr>PowerPoint Presentation</vt:lpstr>
      <vt:lpstr>Mainstream Young Singles &amp; Couples make up the largest proportion of Snacking Chips shoppers.  Mainstream Retirees also have a significant share </vt:lpstr>
      <vt:lpstr>Trial vs Control Store Performance Evaluation</vt:lpstr>
      <vt:lpstr>PowerPoint Presentation</vt:lpstr>
      <vt:lpstr>Result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Tzu-Yu Liu</dc:creator>
  <cp:lastModifiedBy>Tzu-Yu Liu</cp:lastModifiedBy>
  <cp:revision>4</cp:revision>
  <dcterms:created xsi:type="dcterms:W3CDTF">2025-11-15T23:24:38Z</dcterms:created>
  <dcterms:modified xsi:type="dcterms:W3CDTF">2025-11-16T03:30:58Z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